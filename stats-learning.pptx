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449" autoAdjust="0"/>
  </p:normalViewPr>
  <p:slideViewPr>
    <p:cSldViewPr snapToGrid="0" snapToObjects="1">
      <p:cViewPr>
        <p:scale>
          <a:sx n="33" d="100"/>
          <a:sy n="33" d="100"/>
        </p:scale>
        <p:origin x="174" y="-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01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75488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43891200" cy="164592"/>
          </a:xfrm>
          <a:prstGeom prst="rect">
            <a:avLst/>
          </a:prstGeom>
          <a:solidFill>
            <a:srgbClr val="FEE123"/>
          </a:solidFill>
          <a:ln w="12700">
            <a:solidFill>
              <a:srgbClr val="FEE1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3108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500" dirty="0">
                <a:solidFill>
                  <a:srgbClr val="FEE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320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3108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Nicholas Houghton</a:t>
            </a:r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1,2,3</a:t>
            </a: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Zara Harmon</a:t>
            </a:r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Vsevolod Kapatsinski</a:t>
            </a:r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  <a:p>
            <a:pPr marL="0" indent="0" algn="l">
              <a:buNone/>
            </a:pPr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1</a:t>
            </a: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University of Oregon</a:t>
            </a:r>
          </a:p>
          <a:p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2</a:t>
            </a: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University of California, Davis</a:t>
            </a:r>
          </a:p>
          <a:p>
            <a:pPr marL="0" indent="0" algn="l">
              <a:buNone/>
            </a:pPr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3</a:t>
            </a: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Vail Systems, Inc.</a:t>
            </a:r>
          </a:p>
          <a:p>
            <a:pPr marL="0" indent="0" algn="l">
              <a:buNone/>
            </a:pPr>
            <a:r>
              <a:rPr lang="en-US" sz="2000" b="1" baseline="30000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4</a:t>
            </a:r>
            <a:r>
              <a:rPr lang="en-US" sz="2000" b="1" dirty="0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Max Planck Institute for Psycholinguistics</a:t>
            </a:r>
            <a:endParaRPr lang="en-US" sz="2000" baseline="300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13350240" cy="6583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5212080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/ Motivation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13030200"/>
            <a:ext cx="13350240" cy="15500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Artificial language experiment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Four suffixes: </a:t>
            </a:r>
            <a:r>
              <a:rPr lang="en-US" sz="3600" i="1" dirty="0"/>
              <a:t>-</a:t>
            </a:r>
            <a:r>
              <a:rPr lang="en-US" sz="3600" i="1" dirty="0" err="1"/>
              <a:t>sil</a:t>
            </a:r>
            <a:r>
              <a:rPr lang="en-US" sz="3600" i="1" baseline="-25000" dirty="0" err="1"/>
              <a:t>PL</a:t>
            </a:r>
            <a:r>
              <a:rPr lang="en-US" sz="3600" i="1" dirty="0"/>
              <a:t>, -</a:t>
            </a:r>
            <a:r>
              <a:rPr lang="en-US" sz="3600" i="1" dirty="0" err="1"/>
              <a:t>dan</a:t>
            </a:r>
            <a:r>
              <a:rPr lang="en-US" sz="3600" i="1" baseline="-25000" dirty="0" err="1"/>
              <a:t>PL</a:t>
            </a:r>
            <a:r>
              <a:rPr lang="en-US" sz="3600" i="1" dirty="0"/>
              <a:t>, </a:t>
            </a:r>
            <a:r>
              <a:rPr lang="en-US" sz="3600" i="1" dirty="0" err="1"/>
              <a:t>nem</a:t>
            </a:r>
            <a:r>
              <a:rPr lang="en-US" sz="3600" i="1" baseline="-25000" dirty="0" err="1"/>
              <a:t>DIM</a:t>
            </a:r>
            <a:r>
              <a:rPr lang="en-US" sz="3600" i="1" dirty="0"/>
              <a:t>, -</a:t>
            </a:r>
            <a:r>
              <a:rPr lang="en-US" sz="3600" i="1" dirty="0" err="1"/>
              <a:t>shoon</a:t>
            </a:r>
            <a:r>
              <a:rPr lang="en-US" sz="3600" i="1" baseline="-25000" dirty="0" err="1"/>
              <a:t>DIM</a:t>
            </a:r>
            <a:r>
              <a:rPr lang="en-US" sz="3600" i="1" dirty="0"/>
              <a:t>,</a:t>
            </a:r>
            <a:endParaRPr lang="en-US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Three conditions: type, token, and type-token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/>
              <a:t>In each condition, </a:t>
            </a:r>
            <a:r>
              <a:rPr lang="en-US" sz="3600" i="1" dirty="0"/>
              <a:t>dan </a:t>
            </a:r>
            <a:r>
              <a:rPr lang="en-US" sz="3600" dirty="0"/>
              <a:t>was made either frequent or infrequent relative to </a:t>
            </a:r>
            <a:r>
              <a:rPr lang="en-US" sz="3600" i="1" dirty="0" err="1"/>
              <a:t>nem</a:t>
            </a:r>
            <a:r>
              <a:rPr lang="en-US" sz="3600" i="1" dirty="0"/>
              <a:t> (</a:t>
            </a:r>
            <a:r>
              <a:rPr lang="en-US" sz="3600" dirty="0"/>
              <a:t>balanced between whether </a:t>
            </a:r>
            <a:r>
              <a:rPr lang="en-US" sz="3600" i="1" dirty="0"/>
              <a:t>dan </a:t>
            </a:r>
            <a:r>
              <a:rPr lang="en-US" sz="3600" dirty="0"/>
              <a:t>was the frequent suffix or </a:t>
            </a:r>
            <a:r>
              <a:rPr lang="en-US" sz="3600" i="1" dirty="0" err="1"/>
              <a:t>nem</a:t>
            </a:r>
            <a:r>
              <a:rPr lang="en-US" sz="3600" i="1" dirty="0"/>
              <a:t> </a:t>
            </a:r>
            <a:r>
              <a:rPr lang="en-US" sz="3600" dirty="0"/>
              <a:t>was)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/>
              <a:t>Type condition: frequent suffix occurred in more types than infrequent suffix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/>
              <a:t>Token condition: frequent suffix occurred in more tokens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/>
              <a:t>Type-token condition: frequent suffix occurred in more types and more tokens than infrequent suffix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Examined production, 2AFC, and comprehension of diminutive plural meaning, which is compatible with the meaning of both suffixes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Specifically tested which suffix they selected in novel contexts (novel stems and/or novel meanings)</a:t>
            </a:r>
          </a:p>
          <a:p>
            <a:pPr lvl="1"/>
            <a:endParaRPr lang="en-US" sz="3600" dirty="0"/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14400" y="12070080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12070080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5727680" y="5212080"/>
            <a:ext cx="13350240" cy="868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115032" y="-3280473"/>
            <a:ext cx="26899036" cy="128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Figure 1</a:t>
            </a:r>
          </a:p>
        </p:txBody>
      </p:sp>
      <p:sp>
        <p:nvSpPr>
          <p:cNvPr id="22" name="Shape 20"/>
          <p:cNvSpPr/>
          <p:nvPr/>
        </p:nvSpPr>
        <p:spPr>
          <a:xfrm>
            <a:off x="15727680" y="15169105"/>
            <a:ext cx="13350240" cy="80678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3600" dirty="0"/>
              <a:t>Production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High type and high token frequency </a:t>
            </a:r>
            <a:r>
              <a:rPr lang="en-US" sz="3600" dirty="0">
                <a:sym typeface="Wingdings" panose="05000000000000000000" pitchFamily="2" charset="2"/>
              </a:rPr>
              <a:t> Semantic extension of frequent suffix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ym typeface="Wingdings" panose="05000000000000000000" pitchFamily="2" charset="2"/>
              </a:rPr>
              <a:t>Extension more likely for novel stems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ym typeface="Wingdings" panose="05000000000000000000" pitchFamily="2" charset="2"/>
              </a:rPr>
              <a:t>High type frequency only  Extension when stem and meaning are both novel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ym typeface="Wingdings" panose="05000000000000000000" pitchFamily="2" charset="2"/>
              </a:rPr>
              <a:t>High token frequency only  Preference for the frequent form only when meaning is original</a:t>
            </a:r>
          </a:p>
          <a:p>
            <a:r>
              <a:rPr lang="en-US" sz="3600" dirty="0">
                <a:sym typeface="Wingdings" panose="05000000000000000000" pitchFamily="2" charset="2"/>
              </a:rPr>
              <a:t>Comprehension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ym typeface="Wingdings" panose="05000000000000000000" pitchFamily="2" charset="2"/>
              </a:rPr>
              <a:t>High token-to-type ratio  Original meaning preferred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ym typeface="Wingdings" panose="05000000000000000000" pitchFamily="2" charset="2"/>
              </a:rPr>
              <a:t>As many types as tokens  Novel meaning preferred</a:t>
            </a:r>
          </a:p>
          <a:p>
            <a:r>
              <a:rPr lang="en-US" sz="3600" dirty="0">
                <a:sym typeface="Wingdings" panose="05000000000000000000" pitchFamily="2" charset="2"/>
              </a:rPr>
              <a:t>Logistic Perceptron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ym typeface="Wingdings" panose="05000000000000000000" pitchFamily="2" charset="2"/>
              </a:rPr>
              <a:t>Accounts for human data best when configural cues are included along with increased salience for semantic cues</a:t>
            </a:r>
          </a:p>
        </p:txBody>
      </p:sp>
      <p:sp>
        <p:nvSpPr>
          <p:cNvPr id="23" name="Shape 21"/>
          <p:cNvSpPr/>
          <p:nvPr/>
        </p:nvSpPr>
        <p:spPr>
          <a:xfrm>
            <a:off x="15727680" y="14173200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956280" y="14173200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5727680" y="24391392"/>
            <a:ext cx="13350240" cy="697252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5727680" y="23422356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959967" y="23401581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2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0540960" y="5212080"/>
            <a:ext cx="13350240" cy="868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540960" y="5212080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769560" y="5212080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3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0540960" y="14173200"/>
            <a:ext cx="13350240" cy="7315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540960" y="14173200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769560" y="14173200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0533586" y="26207097"/>
            <a:ext cx="13350240" cy="5029200"/>
          </a:xfrm>
          <a:prstGeom prst="rect">
            <a:avLst/>
          </a:prstGeom>
          <a:solidFill>
            <a:srgbClr val="154733"/>
          </a:solidFill>
          <a:ln w="9525">
            <a:solidFill>
              <a:srgbClr val="1547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0540960" y="26207097"/>
            <a:ext cx="13350240" cy="96012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758499" y="26162331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4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0" y="31839408"/>
            <a:ext cx="43891200" cy="1078992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0" y="31839408"/>
            <a:ext cx="43891200" cy="137160"/>
          </a:xfrm>
          <a:prstGeom prst="rect">
            <a:avLst/>
          </a:prstGeom>
          <a:solidFill>
            <a:srgbClr val="FEE123"/>
          </a:solidFill>
          <a:ln w="12700">
            <a:solidFill>
              <a:srgbClr val="FEE1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400" y="31976568"/>
            <a:ext cx="4206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C177D20-9701-07B6-6156-7C144539B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9074" y="594360"/>
            <a:ext cx="2820926" cy="324472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177308E-3262-572D-9A93-72FB2A35676D}"/>
              </a:ext>
            </a:extLst>
          </p:cNvPr>
          <p:cNvSpPr txBox="1"/>
          <p:nvPr/>
        </p:nvSpPr>
        <p:spPr>
          <a:xfrm>
            <a:off x="875537" y="1232648"/>
            <a:ext cx="37338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The effects of type and token frequency on generalizations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57A1A5-EA18-AF89-2898-CCC4390191F1}"/>
              </a:ext>
            </a:extLst>
          </p:cNvPr>
          <p:cNvSpPr txBox="1"/>
          <p:nvPr/>
        </p:nvSpPr>
        <p:spPr>
          <a:xfrm>
            <a:off x="914400" y="6172200"/>
            <a:ext cx="13350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/>
              <a:t>Ability to generalize is paramount to learning language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4000" dirty="0"/>
              <a:t>Some have argued that different types of generalizations may leverage different cognitive abilities [1]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4000" dirty="0"/>
              <a:t>For example, extending a word’s meaning to a novel context (semantic extension) vs extending a word’s form to a novel context (productivity)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/>
              <a:t>Present study examines whether semantic extension and linguistic productivity are both driven by type and token frequency.</a:t>
            </a: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6F022CEA-A4FC-8F51-DAA5-649BE542D9A4}"/>
              </a:ext>
            </a:extLst>
          </p:cNvPr>
          <p:cNvSpPr/>
          <p:nvPr/>
        </p:nvSpPr>
        <p:spPr>
          <a:xfrm>
            <a:off x="914400" y="29355288"/>
            <a:ext cx="13350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/>
              <a:t>[1] Bybee, J. (2010). </a:t>
            </a:r>
            <a:r>
              <a:rPr lang="en-US" i="1" dirty="0"/>
              <a:t>Language, usage and cognition</a:t>
            </a:r>
            <a:r>
              <a:rPr lang="en-US" dirty="0"/>
              <a:t>. Cambridge University Press.</a:t>
            </a:r>
          </a:p>
          <a:p>
            <a:r>
              <a:rPr lang="en-US" dirty="0"/>
              <a:t>[2] Jarosz, G., Hughes, C., Lamont, A., Prickett, B., Baird, M., Kim, S., &amp; Nelson, M. (2025). Type and token frequency jointly drive learning of morphology. </a:t>
            </a:r>
            <a:r>
              <a:rPr lang="en-US" i="1" dirty="0"/>
              <a:t>Journal of Memory and Language</a:t>
            </a:r>
            <a:r>
              <a:rPr lang="en-US" dirty="0"/>
              <a:t>, 104666.</a:t>
            </a:r>
          </a:p>
          <a:p>
            <a:endParaRPr lang="en-US" dirty="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A494FD1F-E313-48F1-9CC2-14DCE1E7762E}"/>
              </a:ext>
            </a:extLst>
          </p:cNvPr>
          <p:cNvSpPr/>
          <p:nvPr/>
        </p:nvSpPr>
        <p:spPr>
          <a:xfrm>
            <a:off x="914400" y="29035248"/>
            <a:ext cx="13350240" cy="32004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60DE5793-AA18-EA43-0DD8-D1294C6598C6}"/>
              </a:ext>
            </a:extLst>
          </p:cNvPr>
          <p:cNvSpPr/>
          <p:nvPr/>
        </p:nvSpPr>
        <p:spPr>
          <a:xfrm>
            <a:off x="1143000" y="29035248"/>
            <a:ext cx="1289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408D7AEB-5BAB-4C2A-E193-115EDAF48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017598"/>
              </p:ext>
            </p:extLst>
          </p:nvPr>
        </p:nvGraphicFramePr>
        <p:xfrm>
          <a:off x="2893695" y="22136661"/>
          <a:ext cx="9393555" cy="1744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711">
                  <a:extLst>
                    <a:ext uri="{9D8B030D-6E8A-4147-A177-3AD203B41FA5}">
                      <a16:colId xmlns:a16="http://schemas.microsoft.com/office/drawing/2014/main" val="2563262637"/>
                    </a:ext>
                  </a:extLst>
                </a:gridCol>
                <a:gridCol w="1878711">
                  <a:extLst>
                    <a:ext uri="{9D8B030D-6E8A-4147-A177-3AD203B41FA5}">
                      <a16:colId xmlns:a16="http://schemas.microsoft.com/office/drawing/2014/main" val="1807087668"/>
                    </a:ext>
                  </a:extLst>
                </a:gridCol>
                <a:gridCol w="1878711">
                  <a:extLst>
                    <a:ext uri="{9D8B030D-6E8A-4147-A177-3AD203B41FA5}">
                      <a16:colId xmlns:a16="http://schemas.microsoft.com/office/drawing/2014/main" val="1826809102"/>
                    </a:ext>
                  </a:extLst>
                </a:gridCol>
                <a:gridCol w="1878711">
                  <a:extLst>
                    <a:ext uri="{9D8B030D-6E8A-4147-A177-3AD203B41FA5}">
                      <a16:colId xmlns:a16="http://schemas.microsoft.com/office/drawing/2014/main" val="1184626280"/>
                    </a:ext>
                  </a:extLst>
                </a:gridCol>
                <a:gridCol w="1878711">
                  <a:extLst>
                    <a:ext uri="{9D8B030D-6E8A-4147-A177-3AD203B41FA5}">
                      <a16:colId xmlns:a16="http://schemas.microsoft.com/office/drawing/2014/main" val="39515018"/>
                    </a:ext>
                  </a:extLst>
                </a:gridCol>
              </a:tblGrid>
              <a:tr h="357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Condition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Freq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Freq Token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Infreq Type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Infreq Token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8982120"/>
                  </a:ext>
                </a:extLst>
              </a:tr>
              <a:tr h="357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Type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12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12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12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3848936"/>
                  </a:ext>
                </a:extLst>
              </a:tr>
              <a:tr h="357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Token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12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4401938"/>
                  </a:ext>
                </a:extLst>
              </a:tr>
              <a:tr h="357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Type-Token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12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12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8472846"/>
                  </a:ext>
                </a:extLst>
              </a:tr>
            </a:tbl>
          </a:graphicData>
        </a:graphic>
      </p:graphicFrame>
      <p:sp>
        <p:nvSpPr>
          <p:cNvPr id="56" name="Shape 21">
            <a:extLst>
              <a:ext uri="{FF2B5EF4-FFF2-40B4-BE49-F238E27FC236}">
                <a16:creationId xmlns:a16="http://schemas.microsoft.com/office/drawing/2014/main" id="{CC89C21E-B7B3-C4C4-CD9D-BB3D486D1F5B}"/>
              </a:ext>
            </a:extLst>
          </p:cNvPr>
          <p:cNvSpPr/>
          <p:nvPr/>
        </p:nvSpPr>
        <p:spPr>
          <a:xfrm>
            <a:off x="15727680" y="5234940"/>
            <a:ext cx="13350240" cy="960120"/>
          </a:xfrm>
          <a:prstGeom prst="rect">
            <a:avLst/>
          </a:prstGeom>
          <a:solidFill>
            <a:srgbClr val="154733"/>
          </a:solidFill>
          <a:ln w="12700">
            <a:solidFill>
              <a:srgbClr val="1547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224D0BCA-AF67-19C9-BDB3-C734604ABA9C}"/>
              </a:ext>
            </a:extLst>
          </p:cNvPr>
          <p:cNvSpPr/>
          <p:nvPr/>
        </p:nvSpPr>
        <p:spPr>
          <a:xfrm>
            <a:off x="15956280" y="5200650"/>
            <a:ext cx="1289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</a:t>
            </a:r>
            <a:endParaRPr lang="en-US" sz="2200" dirty="0"/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1784F5C3-EB17-145C-B642-EB154EB18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04551" y="6906893"/>
            <a:ext cx="7429746" cy="6394453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7A22F4A2-3DC1-6D73-402E-C11FE3776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05595" y="25923414"/>
            <a:ext cx="7272780" cy="4521936"/>
          </a:xfrm>
          <a:prstGeom prst="rect">
            <a:avLst/>
          </a:prstGeom>
        </p:spPr>
      </p:pic>
      <p:pic>
        <p:nvPicPr>
          <p:cNvPr id="1024" name="Graphic 1023">
            <a:extLst>
              <a:ext uri="{FF2B5EF4-FFF2-40B4-BE49-F238E27FC236}">
                <a16:creationId xmlns:a16="http://schemas.microsoft.com/office/drawing/2014/main" id="{6AAD7D65-F102-C17A-7182-B39AFD80C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56280" y="6457432"/>
            <a:ext cx="8571411" cy="7147071"/>
          </a:xfrm>
          <a:prstGeom prst="rect">
            <a:avLst/>
          </a:prstGeom>
        </p:spPr>
      </p:pic>
      <p:sp>
        <p:nvSpPr>
          <p:cNvPr id="1027" name="Shape 20">
            <a:extLst>
              <a:ext uri="{FF2B5EF4-FFF2-40B4-BE49-F238E27FC236}">
                <a16:creationId xmlns:a16="http://schemas.microsoft.com/office/drawing/2014/main" id="{6B937355-F86E-515E-1424-0BDEC3737A49}"/>
              </a:ext>
            </a:extLst>
          </p:cNvPr>
          <p:cNvSpPr/>
          <p:nvPr/>
        </p:nvSpPr>
        <p:spPr>
          <a:xfrm>
            <a:off x="30540960" y="15169207"/>
            <a:ext cx="13350240" cy="106446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Results suggest that both type and token frequency drive semantic extension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Further evidence that accessibility drives semantic extension (and that accessibility is mediated by both type and token frequency)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Results also suggest that linguistic productivity and semantic extension may both be driven by the same factors (accessibility)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Linguistic productivity is similarly driven by type frequency and token frequency [2]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Holistic storage may also play a role in semantic extension, evidenced by the improved prediction of RW with configural cues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EB49AFF7-547D-0035-A8D4-4D443300B0D8}"/>
              </a:ext>
            </a:extLst>
          </p:cNvPr>
          <p:cNvSpPr txBox="1"/>
          <p:nvPr/>
        </p:nvSpPr>
        <p:spPr>
          <a:xfrm>
            <a:off x="30540960" y="27167217"/>
            <a:ext cx="13350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Type/Token frequency </a:t>
            </a: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 Increased accessibility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Increased accessibility  Semantic Extension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Increased accessibility  Linguistic productivity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034" name="Picture 1033">
            <a:extLst>
              <a:ext uri="{FF2B5EF4-FFF2-40B4-BE49-F238E27FC236}">
                <a16:creationId xmlns:a16="http://schemas.microsoft.com/office/drawing/2014/main" id="{F5F87771-9DC7-E462-BDCF-BCCA2CA87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8136" y="23949728"/>
            <a:ext cx="10482768" cy="4076632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C3C21B2E-2E58-6DFC-530D-9727DBB57975}"/>
              </a:ext>
            </a:extLst>
          </p:cNvPr>
          <p:cNvSpPr txBox="1"/>
          <p:nvPr/>
        </p:nvSpPr>
        <p:spPr>
          <a:xfrm>
            <a:off x="24667239" y="6906235"/>
            <a:ext cx="427113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Mixed-effects regression model results for statistical analysis examining production and form-choice data.</a:t>
            </a:r>
          </a:p>
          <a:p>
            <a:endParaRPr lang="en-US" sz="2400" dirty="0"/>
          </a:p>
          <a:p>
            <a:r>
              <a:rPr lang="en-US" sz="2400" dirty="0"/>
              <a:t>The x-axis indicates the condition, y-axis corresponds to the proportion of responses with a frequent suffix.</a:t>
            </a:r>
          </a:p>
          <a:p>
            <a:endParaRPr lang="en-US" sz="2400" dirty="0"/>
          </a:p>
          <a:p>
            <a:r>
              <a:rPr lang="en-US" sz="2400" dirty="0"/>
              <a:t>Blue points indicate that the meaning was novel while purple points indicate that the meaning was original. The facet indicates whether the stem was novel or familiar. 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1D521900-F584-14A1-1F3F-51CD39075EA3}"/>
              </a:ext>
            </a:extLst>
          </p:cNvPr>
          <p:cNvSpPr txBox="1"/>
          <p:nvPr/>
        </p:nvSpPr>
        <p:spPr>
          <a:xfrm>
            <a:off x="24342581" y="26169496"/>
            <a:ext cx="42711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Mixed-effects regression model results for statistical analysis examining comprehension data.</a:t>
            </a:r>
          </a:p>
          <a:p>
            <a:endParaRPr lang="en-US" sz="2400" dirty="0"/>
          </a:p>
          <a:p>
            <a:r>
              <a:rPr lang="en-US" sz="2400" dirty="0"/>
              <a:t>The x-axis indicates the condition, y-axis corresponds to the proportion of participant responses for the novel meaning.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2E8A7E6-EB3A-1540-6776-8FC6EC14B4E4}"/>
              </a:ext>
            </a:extLst>
          </p:cNvPr>
          <p:cNvSpPr txBox="1"/>
          <p:nvPr/>
        </p:nvSpPr>
        <p:spPr>
          <a:xfrm>
            <a:off x="38705667" y="6906893"/>
            <a:ext cx="427113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RW and human results side-by-side.</a:t>
            </a:r>
          </a:p>
          <a:p>
            <a:endParaRPr lang="en-US" sz="2400" dirty="0"/>
          </a:p>
          <a:p>
            <a:r>
              <a:rPr lang="en-US" sz="2400" dirty="0"/>
              <a:t>RW model contained configural cues plus modified salience of semantic cues</a:t>
            </a:r>
          </a:p>
          <a:p>
            <a:endParaRPr lang="en-US" sz="2400" dirty="0"/>
          </a:p>
          <a:p>
            <a:r>
              <a:rPr lang="en-US" sz="2400" dirty="0"/>
              <a:t>The y-axis is the probability of producing the frequent meaning. The top facet corresponds to novel meanings and the bottom axis corresponds to original meanings.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12552</TotalTime>
  <Words>670</Words>
  <Application>Microsoft Office PowerPoint</Application>
  <PresentationFormat>Custom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 Narrow</vt:lpstr>
      <vt:lpstr>Arial</vt:lpstr>
      <vt:lpstr>Calibri</vt:lpstr>
      <vt:lpstr>Georgia</vt:lpstr>
      <vt:lpstr>Wingdings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Learning 2026 — UO Poster Template</dc:title>
  <dc:subject>PptxGenJS Presentation</dc:subject>
  <dc:creator>PptxGenJS</dc:creator>
  <cp:lastModifiedBy>Zachary Houghton</cp:lastModifiedBy>
  <cp:revision>16</cp:revision>
  <dcterms:created xsi:type="dcterms:W3CDTF">2026-04-19T01:25:04Z</dcterms:created>
  <dcterms:modified xsi:type="dcterms:W3CDTF">2026-04-27T18:40:25Z</dcterms:modified>
</cp:coreProperties>
</file>